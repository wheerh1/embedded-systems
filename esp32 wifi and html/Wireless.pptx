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63" r:id="rId6"/>
    <p:sldId id="274" r:id="rId7"/>
    <p:sldId id="275" r:id="rId8"/>
    <p:sldId id="266" r:id="rId9"/>
    <p:sldId id="273" r:id="rId10"/>
    <p:sldId id="269" r:id="rId11"/>
    <p:sldId id="259" r:id="rId12"/>
    <p:sldId id="264" r:id="rId13"/>
    <p:sldId id="265" r:id="rId14"/>
    <p:sldId id="260" r:id="rId15"/>
    <p:sldId id="26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-190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FDA-A4F4-4E59-87D4-E177BC58C586}" type="datetimeFigureOut">
              <a:rPr lang="en-NZ" smtClean="0"/>
              <a:t>11/05/2025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79A1-664D-40E9-9995-DCA4C0C4C4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5575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FDA-A4F4-4E59-87D4-E177BC58C586}" type="datetimeFigureOut">
              <a:rPr lang="en-NZ" smtClean="0"/>
              <a:t>11/05/2025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79A1-664D-40E9-9995-DCA4C0C4C4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3512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FDA-A4F4-4E59-87D4-E177BC58C586}" type="datetimeFigureOut">
              <a:rPr lang="en-NZ" smtClean="0"/>
              <a:t>11/05/2025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79A1-664D-40E9-9995-DCA4C0C4C4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41824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FDA-A4F4-4E59-87D4-E177BC58C586}" type="datetimeFigureOut">
              <a:rPr lang="en-NZ" smtClean="0"/>
              <a:t>11/05/2025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79A1-664D-40E9-9995-DCA4C0C4C4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16665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FDA-A4F4-4E59-87D4-E177BC58C586}" type="datetimeFigureOut">
              <a:rPr lang="en-NZ" smtClean="0"/>
              <a:t>11/05/2025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79A1-664D-40E9-9995-DCA4C0C4C4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26062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FDA-A4F4-4E59-87D4-E177BC58C586}" type="datetimeFigureOut">
              <a:rPr lang="en-NZ" smtClean="0"/>
              <a:t>11/05/2025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79A1-664D-40E9-9995-DCA4C0C4C4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61834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FDA-A4F4-4E59-87D4-E177BC58C586}" type="datetimeFigureOut">
              <a:rPr lang="en-NZ" smtClean="0"/>
              <a:t>11/05/2025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79A1-664D-40E9-9995-DCA4C0C4C4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5654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FDA-A4F4-4E59-87D4-E177BC58C586}" type="datetimeFigureOut">
              <a:rPr lang="en-NZ" smtClean="0"/>
              <a:t>11/05/2025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79A1-664D-40E9-9995-DCA4C0C4C4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69691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FDA-A4F4-4E59-87D4-E177BC58C586}" type="datetimeFigureOut">
              <a:rPr lang="en-NZ" smtClean="0"/>
              <a:t>11/05/2025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79A1-664D-40E9-9995-DCA4C0C4C4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66366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FDA-A4F4-4E59-87D4-E177BC58C586}" type="datetimeFigureOut">
              <a:rPr lang="en-NZ" smtClean="0"/>
              <a:t>11/05/2025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79A1-664D-40E9-9995-DCA4C0C4C4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0797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52FDA-A4F4-4E59-87D4-E177BC58C586}" type="datetimeFigureOut">
              <a:rPr lang="en-NZ" smtClean="0"/>
              <a:t>11/05/2025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79A1-664D-40E9-9995-DCA4C0C4C4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283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52FDA-A4F4-4E59-87D4-E177BC58C586}" type="datetimeFigureOut">
              <a:rPr lang="en-NZ" smtClean="0"/>
              <a:t>11/05/2025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4079A1-664D-40E9-9995-DCA4C0C4C46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54002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7589D8-C6E2-1369-86F6-2D7E1FEB33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Z" dirty="0"/>
              <a:t>Wireless Connection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973574A-2265-12F2-8A57-FBC266C916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42878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2FE8E8-3E73-C2CD-5A31-1311B721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F869A8C-22D2-521F-58B2-6181B7BCF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To experiment with wireless connectivity for microcontrollers.</a:t>
            </a:r>
          </a:p>
          <a:p>
            <a:pPr lvl="1"/>
            <a:r>
              <a:rPr lang="en-NZ" dirty="0"/>
              <a:t>Setting up the IDE for a wireless </a:t>
            </a:r>
            <a:r>
              <a:rPr lang="en-NZ" dirty="0" err="1"/>
              <a:t>uC</a:t>
            </a:r>
            <a:r>
              <a:rPr lang="en-NZ" dirty="0"/>
              <a:t>.</a:t>
            </a:r>
          </a:p>
          <a:p>
            <a:pPr lvl="1"/>
            <a:r>
              <a:rPr lang="en-NZ" dirty="0"/>
              <a:t>Connecting to the </a:t>
            </a:r>
            <a:r>
              <a:rPr lang="en-NZ" dirty="0" err="1"/>
              <a:t>WiFi</a:t>
            </a:r>
            <a:r>
              <a:rPr lang="en-NZ" dirty="0"/>
              <a:t>.</a:t>
            </a:r>
          </a:p>
          <a:p>
            <a:pPr lvl="1"/>
            <a:r>
              <a:rPr lang="en-NZ" dirty="0"/>
              <a:t>Accessing the internet.</a:t>
            </a:r>
          </a:p>
        </p:txBody>
      </p:sp>
    </p:spTree>
    <p:extLst>
      <p:ext uri="{BB962C8B-B14F-4D97-AF65-F5344CB8AC3E}">
        <p14:creationId xmlns:p14="http://schemas.microsoft.com/office/powerpoint/2010/main" val="3370666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CD7F24-DBF6-4FCB-66FF-9254F96F7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ESP32 &amp; ESP8266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A95B36-269F-2DA5-D2C3-4CABF44AF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Low cost microcontrollers with built in </a:t>
            </a:r>
            <a:r>
              <a:rPr lang="en-NZ" dirty="0" err="1"/>
              <a:t>WiFi</a:t>
            </a:r>
            <a:r>
              <a:rPr lang="en-NZ" dirty="0"/>
              <a:t> and TCP/IP</a:t>
            </a:r>
            <a:r>
              <a:rPr lang="en-NZ" dirty="0" smtClean="0"/>
              <a:t>. (</a:t>
            </a:r>
            <a:r>
              <a:rPr lang="en-NZ" dirty="0" err="1" smtClean="0"/>
              <a:t>Espressif</a:t>
            </a:r>
            <a:r>
              <a:rPr lang="en-NZ" dirty="0" smtClean="0"/>
              <a:t> Systems, China, 2014)</a:t>
            </a:r>
            <a:endParaRPr lang="en-NZ" dirty="0"/>
          </a:p>
          <a:p>
            <a:r>
              <a:rPr lang="en-NZ" dirty="0"/>
              <a:t>Extremely popular for wireless projects.</a:t>
            </a:r>
          </a:p>
          <a:p>
            <a:r>
              <a:rPr lang="en-NZ" dirty="0"/>
              <a:t>ESP8266 is earlier implementation. </a:t>
            </a:r>
          </a:p>
          <a:p>
            <a:r>
              <a:rPr lang="en-NZ" dirty="0"/>
              <a:t>ESP32 is the successor to ESP8266. More powerful microcontroller. </a:t>
            </a:r>
            <a:r>
              <a:rPr lang="en-NZ" dirty="0" smtClean="0"/>
              <a:t>Usually includes </a:t>
            </a:r>
            <a:r>
              <a:rPr lang="en-NZ" dirty="0"/>
              <a:t>Bluetooth.</a:t>
            </a:r>
          </a:p>
        </p:txBody>
      </p:sp>
    </p:spTree>
    <p:extLst>
      <p:ext uri="{BB962C8B-B14F-4D97-AF65-F5344CB8AC3E}">
        <p14:creationId xmlns:p14="http://schemas.microsoft.com/office/powerpoint/2010/main" val="1341765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F4DE8D0-903A-B780-66D6-6AE8A8B3E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81" y="132191"/>
            <a:ext cx="8448675" cy="3133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EE7397F-F0A8-217B-A962-7843CFC86231}"/>
              </a:ext>
            </a:extLst>
          </p:cNvPr>
          <p:cNvSpPr txBox="1"/>
          <p:nvPr/>
        </p:nvSpPr>
        <p:spPr>
          <a:xfrm>
            <a:off x="318407" y="3657600"/>
            <a:ext cx="8329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 smtClean="0"/>
              <a:t>As of May 2025. ESP8266 </a:t>
            </a:r>
            <a:r>
              <a:rPr lang="en-NZ" dirty="0"/>
              <a:t>boards are generally cheaper!</a:t>
            </a:r>
          </a:p>
        </p:txBody>
      </p:sp>
    </p:spTree>
    <p:extLst>
      <p:ext uri="{BB962C8B-B14F-4D97-AF65-F5344CB8AC3E}">
        <p14:creationId xmlns:p14="http://schemas.microsoft.com/office/powerpoint/2010/main" val="3069394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chip with many colored buttons&#10;&#10;AI-generated content may be incorrect.">
            <a:extLst>
              <a:ext uri="{FF2B5EF4-FFF2-40B4-BE49-F238E27FC236}">
                <a16:creationId xmlns:a16="http://schemas.microsoft.com/office/drawing/2014/main" xmlns="" id="{FDE01016-723A-6815-241E-470128300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4810"/>
            <a:ext cx="9144000" cy="520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88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Bells &amp; Whistles!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ESP devices are a little bit bare bones. Some of the nice features we are used to are not implemented easily.</a:t>
            </a:r>
          </a:p>
          <a:p>
            <a:r>
              <a:rPr lang="en-US" dirty="0" smtClean="0"/>
              <a:t>This can depend on the platform/form factor of the device, </a:t>
            </a:r>
            <a:r>
              <a:rPr lang="en-US" dirty="0" err="1" smtClean="0"/>
              <a:t>eg</a:t>
            </a:r>
            <a:r>
              <a:rPr lang="en-US" dirty="0" smtClean="0"/>
              <a:t>: analogue input/outputs</a:t>
            </a:r>
          </a:p>
          <a:p>
            <a:r>
              <a:rPr lang="en-US" dirty="0" smtClean="0"/>
              <a:t>Logic levels will be different too – typically 3.3 volts!</a:t>
            </a:r>
          </a:p>
          <a:p>
            <a:pPr lvl="1"/>
            <a:r>
              <a:rPr lang="en-US" dirty="0" smtClean="0"/>
              <a:t>Check requirements on sensors</a:t>
            </a:r>
          </a:p>
          <a:p>
            <a:pPr lvl="1"/>
            <a:r>
              <a:rPr lang="en-US" dirty="0" smtClean="0"/>
              <a:t>You might need to use a bi-directional logic level converter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516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VBOXSVR\week_10\Screenshot from 2025-05-11 09-12-5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35" y="686889"/>
            <a:ext cx="8705008" cy="531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078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Digital 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PinMode</a:t>
            </a:r>
            <a:r>
              <a:rPr lang="en-US" dirty="0" smtClean="0"/>
              <a:t>() method works on the GPIO pin number for esp32 and esp8266.</a:t>
            </a:r>
          </a:p>
          <a:p>
            <a:pPr lvl="1"/>
            <a:r>
              <a:rPr lang="en-US" dirty="0" smtClean="0"/>
              <a:t>GPIO5?</a:t>
            </a:r>
          </a:p>
          <a:p>
            <a:pPr lvl="1"/>
            <a:r>
              <a:rPr lang="en-US" dirty="0" err="1" smtClean="0"/>
              <a:t>PinMode</a:t>
            </a:r>
            <a:r>
              <a:rPr lang="en-US" dirty="0" smtClean="0"/>
              <a:t>(5, INPUT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 smtClean="0"/>
              <a:t>Remember pull up and pull down resistors. Some devices do allow:</a:t>
            </a:r>
          </a:p>
          <a:p>
            <a:pPr lvl="1"/>
            <a:r>
              <a:rPr lang="en-US" dirty="0" smtClean="0"/>
              <a:t>(</a:t>
            </a:r>
            <a:r>
              <a:rPr lang="en-US" dirty="0" err="1" smtClean="0"/>
              <a:t>PinMode</a:t>
            </a:r>
            <a:r>
              <a:rPr lang="en-US" dirty="0" smtClean="0"/>
              <a:t> </a:t>
            </a:r>
            <a:r>
              <a:rPr lang="en-US" dirty="0" err="1" smtClean="0"/>
              <a:t>pin_no</a:t>
            </a:r>
            <a:r>
              <a:rPr lang="en-US" dirty="0" smtClean="0"/>
              <a:t>, INPUT_PULLUP)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264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Analogue 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Depends very much on the board layout you are using</a:t>
            </a:r>
            <a:r>
              <a:rPr lang="en-US" dirty="0" smtClean="0"/>
              <a:t>!</a:t>
            </a:r>
          </a:p>
          <a:p>
            <a:r>
              <a:rPr lang="en-US" dirty="0" smtClean="0"/>
              <a:t>Some board will have dedicated Analogue pins</a:t>
            </a:r>
          </a:p>
          <a:p>
            <a:r>
              <a:rPr lang="en-US" dirty="0" smtClean="0"/>
              <a:t>Pulse Width Modulation can be used for analogue output.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545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I2C</a:t>
            </a:r>
          </a:p>
          <a:p>
            <a:r>
              <a:rPr lang="en-US" dirty="0" err="1" smtClean="0"/>
              <a:t>Interupts</a:t>
            </a:r>
            <a:endParaRPr lang="en-US" dirty="0" smtClean="0"/>
          </a:p>
          <a:p>
            <a:r>
              <a:rPr lang="en-US" dirty="0" smtClean="0"/>
              <a:t>Most </a:t>
            </a:r>
            <a:r>
              <a:rPr lang="en-US" dirty="0" err="1" smtClean="0"/>
              <a:t>Arduino</a:t>
            </a:r>
            <a:r>
              <a:rPr lang="en-US" dirty="0" smtClean="0"/>
              <a:t> C software features will be supported if the device is supported by the IDE.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919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6E1EF2-F13C-F44D-89F0-3F76C3EF2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Setting up the IDE.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F64174D-4B88-51C7-9866-78AEC53BD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ESP </a:t>
            </a:r>
            <a:r>
              <a:rPr lang="en-NZ"/>
              <a:t>devices </a:t>
            </a:r>
            <a:r>
              <a:rPr lang="en-NZ" smtClean="0"/>
              <a:t>are </a:t>
            </a:r>
            <a:r>
              <a:rPr lang="en-NZ" dirty="0"/>
              <a:t>not Atmel devices (The default </a:t>
            </a:r>
            <a:r>
              <a:rPr lang="en-NZ" dirty="0" err="1"/>
              <a:t>uC</a:t>
            </a:r>
            <a:r>
              <a:rPr lang="en-NZ" dirty="0"/>
              <a:t> for Arduino platform)</a:t>
            </a:r>
          </a:p>
          <a:p>
            <a:r>
              <a:rPr lang="en-NZ" dirty="0"/>
              <a:t>We usually have to:</a:t>
            </a:r>
          </a:p>
          <a:p>
            <a:pPr lvl="1"/>
            <a:r>
              <a:rPr lang="en-NZ" dirty="0"/>
              <a:t>Update the URL for additional boards in Preferences</a:t>
            </a:r>
          </a:p>
          <a:p>
            <a:pPr lvl="1"/>
            <a:r>
              <a:rPr lang="en-NZ" dirty="0"/>
              <a:t>Use the Boards Manager to change our default board.</a:t>
            </a:r>
          </a:p>
        </p:txBody>
      </p:sp>
    </p:spTree>
    <p:extLst>
      <p:ext uri="{BB962C8B-B14F-4D97-AF65-F5344CB8AC3E}">
        <p14:creationId xmlns:p14="http://schemas.microsoft.com/office/powerpoint/2010/main" val="2613912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09C06F8-F71A-AA6E-A336-995F3DAE7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03" y="458559"/>
            <a:ext cx="8694844" cy="580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12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39C1478-0A2E-550A-9E03-FC420FE42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087" y="200025"/>
            <a:ext cx="3171825" cy="64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4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C3AF4E-C0C7-86F9-F57F-0176DB36F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Connecting to </a:t>
            </a:r>
            <a:r>
              <a:rPr lang="en-NZ" dirty="0" err="1"/>
              <a:t>WiFi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93A81A-6F3E-78FD-B75C-5F7D1C261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We have a router in D312 we can use to experiment with:</a:t>
            </a:r>
          </a:p>
          <a:p>
            <a:endParaRPr lang="en-NZ" dirty="0"/>
          </a:p>
          <a:p>
            <a:pPr marL="1436688" indent="0">
              <a:buNone/>
            </a:pPr>
            <a:r>
              <a:rPr lang="en-NZ" dirty="0">
                <a:latin typeface="Consolas" panose="020B0609020204030204" pitchFamily="49" charset="0"/>
                <a:cs typeface="Courier New" panose="02070309020205020404" pitchFamily="49" charset="0"/>
              </a:rPr>
              <a:t>SSID - </a:t>
            </a:r>
            <a:r>
              <a:rPr lang="en-NZ" dirty="0" err="1">
                <a:latin typeface="Consolas" panose="020B0609020204030204" pitchFamily="49" charset="0"/>
                <a:cs typeface="Courier New" panose="02070309020205020404" pitchFamily="49" charset="0"/>
              </a:rPr>
              <a:t>D_Block_Lab</a:t>
            </a:r>
            <a:endParaRPr lang="en-NZ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1436688" indent="0">
              <a:buNone/>
            </a:pPr>
            <a:r>
              <a:rPr lang="en-NZ" dirty="0">
                <a:latin typeface="Consolas" panose="020B0609020204030204" pitchFamily="49" charset="0"/>
                <a:cs typeface="Courier New" panose="02070309020205020404" pitchFamily="49" charset="0"/>
              </a:rPr>
              <a:t>Pass - P@ssw0rd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84211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90363A-B7A2-3AB7-9B7C-6C8CBCF19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Accessing the Internet.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6093021-D314-5A64-4B73-A66213B3E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We have a couple of supplied Sketches for connecting your device to the </a:t>
            </a:r>
            <a:r>
              <a:rPr lang="en-NZ" dirty="0" err="1" smtClean="0"/>
              <a:t>wifi</a:t>
            </a:r>
            <a:r>
              <a:rPr lang="en-NZ" dirty="0" smtClean="0"/>
              <a:t>. </a:t>
            </a:r>
          </a:p>
          <a:p>
            <a:r>
              <a:rPr lang="en-NZ" dirty="0" smtClean="0"/>
              <a:t>Can you retrieve the contents of a webpage with it?</a:t>
            </a:r>
          </a:p>
          <a:p>
            <a:r>
              <a:rPr lang="en-NZ" dirty="0" smtClean="0"/>
              <a:t>You will need to do some digging around!</a:t>
            </a:r>
          </a:p>
          <a:p>
            <a:endParaRPr lang="en-NZ" dirty="0"/>
          </a:p>
          <a:p>
            <a:r>
              <a:rPr lang="en-NZ" dirty="0" smtClean="0"/>
              <a:t>Try and access:</a:t>
            </a:r>
          </a:p>
          <a:p>
            <a:pPr marL="0" indent="0" algn="ctr">
              <a:buNone/>
            </a:pPr>
            <a:r>
              <a:rPr lang="en-NZ" sz="4400" dirty="0" smtClean="0"/>
              <a:t>info.cern.ch</a:t>
            </a:r>
            <a:endParaRPr lang="en-NZ" sz="4400" dirty="0"/>
          </a:p>
        </p:txBody>
      </p:sp>
    </p:spTree>
    <p:extLst>
      <p:ext uri="{BB962C8B-B14F-4D97-AF65-F5344CB8AC3E}">
        <p14:creationId xmlns:p14="http://schemas.microsoft.com/office/powerpoint/2010/main" val="746186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</TotalTime>
  <Words>355</Words>
  <Application>Microsoft Office PowerPoint</Application>
  <PresentationFormat>On-screen Show (4:3)</PresentationFormat>
  <Paragraphs>49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Wireless Connection</vt:lpstr>
      <vt:lpstr>Outcomes</vt:lpstr>
      <vt:lpstr>ESP32 &amp; ESP8266</vt:lpstr>
      <vt:lpstr>PowerPoint Presentation</vt:lpstr>
      <vt:lpstr>PowerPoint Presentation</vt:lpstr>
      <vt:lpstr>Bells &amp; Whistles!</vt:lpstr>
      <vt:lpstr>PowerPoint Presentation</vt:lpstr>
      <vt:lpstr>Digital IO</vt:lpstr>
      <vt:lpstr>Analogue IO</vt:lpstr>
      <vt:lpstr>Other Features</vt:lpstr>
      <vt:lpstr>Setting up the IDE.</vt:lpstr>
      <vt:lpstr>PowerPoint Presentation</vt:lpstr>
      <vt:lpstr>PowerPoint Presentation</vt:lpstr>
      <vt:lpstr>Connecting to WiFi</vt:lpstr>
      <vt:lpstr>Accessing the Internet.</vt:lpstr>
    </vt:vector>
  </TitlesOfParts>
  <Company>Otago Polytechnic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Connection</dc:title>
  <dc:creator>Vaughn Malkin</dc:creator>
  <cp:lastModifiedBy>vaughn</cp:lastModifiedBy>
  <cp:revision>21</cp:revision>
  <dcterms:created xsi:type="dcterms:W3CDTF">2025-04-29T22:37:57Z</dcterms:created>
  <dcterms:modified xsi:type="dcterms:W3CDTF">2025-05-10T21:33:57Z</dcterms:modified>
</cp:coreProperties>
</file>